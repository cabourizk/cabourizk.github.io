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39" r:id="rId2"/>
    <p:sldId id="496" r:id="rId3"/>
    <p:sldId id="260" r:id="rId4"/>
    <p:sldId id="495" r:id="rId5"/>
    <p:sldId id="499" r:id="rId6"/>
    <p:sldId id="484" r:id="rId7"/>
    <p:sldId id="449" r:id="rId8"/>
    <p:sldId id="4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245"/>
    <a:srgbClr val="36B7B4"/>
    <a:srgbClr val="122B39"/>
    <a:srgbClr val="EB5C2E"/>
    <a:srgbClr val="006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4" autoAdjust="0"/>
    <p:restoredTop sz="93495" autoAdjust="0"/>
  </p:normalViewPr>
  <p:slideViewPr>
    <p:cSldViewPr snapToGrid="0">
      <p:cViewPr varScale="1">
        <p:scale>
          <a:sx n="107" d="100"/>
          <a:sy n="107" d="100"/>
        </p:scale>
        <p:origin x="12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5DA3C-BDF6-44EF-83ED-A29CA680A5AA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1FA71-43BA-430C-A352-65181A562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4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1FA71-43BA-430C-A352-65181A5623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80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033C-FCAB-497A-826F-F6177604E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5B782-28EA-495E-8D1D-CAE6E3387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CFA9-01E9-41AF-8CB4-F2FD11A3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D2D1-B645-4C22-8880-34DFB5DC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6299D-989E-45FF-998D-E2108DE3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8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EE89-32EE-4A7D-BEDB-9675DEE6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AE53-AAEC-4303-AB95-C85A7F7A4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1ADDE-F001-4E1A-A49F-A41D68A4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9690-A4B0-49F1-81BD-3D23BD29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D7762-07CC-4D75-82FC-69EBB2F6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72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2BAD-5D59-4C2D-B3EE-50CFC111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3399-0C61-440E-A24E-C400F6866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B6CD-5B48-4876-B647-5E8225D0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CE164-70C3-45EF-B868-7198B492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5600-198A-450C-B1C5-C3477374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44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32A2-C56C-47AC-A8C2-F753E46A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A359B-D33E-485F-A1BD-378908D6C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02306-411F-409D-9C4D-B6DBF6876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74C83-8471-4A8B-9315-65D989A8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F326B-A0BD-4CF4-8066-7FEC9AD0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9B7D3-84E0-4C60-A69A-58248B91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08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EC8C-2057-4FFF-B6DD-0ED59F48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406AD-1D7C-4A04-AA13-CA8697379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648B2-97FE-462D-B558-5646613A1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C275E-4E75-488B-91E6-60DFB9143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5187-EF06-4A5D-AF91-24A49D0D9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ADF42-CEE1-4D7A-AF1A-97CB7E55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7781E-4B89-4D61-8A4F-2F24E6D6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A784D-1EA7-4F95-87C8-D1B062E8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92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42E7-1599-4288-AF57-F456C8BC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69CA69-AE78-40A1-9A2E-7AEB9780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9597E-43D5-45CA-9356-A6CB9630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E1D0B-D80D-4796-ADED-D7192218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04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84C1B-A6E1-4B22-A874-F5368DAC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6B760-5B22-4759-AE34-9C24EC66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0E8F2-5B51-406D-934E-F3CD7839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08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2D4F-C8B6-43E9-8503-65D03C6B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87F7D-F981-4817-8123-BC73A249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F8BCE-EF5D-4D0E-9AFA-29360A738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E7CDF-0048-49EA-990F-1483CD6F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87C84-90E3-4CEA-8FDD-5C745495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BDC24-1D20-444D-9C04-B0D751C3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15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502C-C2C6-487C-80C6-09B63516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431D8-0731-42A2-9C7F-3D74589FB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5679D-FA05-4E1E-A781-5FCCB80CB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95EAC-CEFD-4A2A-8C6C-E86B4AC4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0B074-78F3-4BFE-A028-F9F9BF95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B4F4C-B7A7-48DE-AF4F-9A9E8D85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00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508-D8EB-4980-ABF8-9CD6157F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70FC5-8888-4D6F-B163-444BCC184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BD5F-AC62-4B51-BA44-F1FCDE43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1BA11-C547-4E9E-93CD-02FBB2A2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D0F8-3E41-418E-8AEC-1276E947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71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6285F-9BAC-4B83-B24B-0230ECE45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78CEC-D698-4550-A002-6BAB4D8EF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0A99F-81CF-4D13-B314-32DF5496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D3C3-7CA7-4686-BD1E-09FE0095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77B4-610F-4B73-BC93-22A9A8B8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7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1CFAAF-51AB-4207-BD90-4C64341E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E71C5-4F64-4B3C-8A2A-F6EE6A518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D0837-F408-4114-989E-420038729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1D2DD-F029-4FB0-BB12-3B6037A6356B}" type="datetimeFigureOut">
              <a:rPr lang="en-GB" smtClean="0"/>
              <a:t>01/11/2024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0F1DC-21E3-4273-8D5D-3823AF731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639B-038B-4CA0-8E4B-94A601045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FCAE-95D1-470F-BBF3-A7303B6FB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09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0z74by2id731mcwssykon/portfolioTasks2024.pdf?rlkey=02z0jw8jxr9rh94qlgi4ywwd3&amp;st=wz8tgdd5&amp;dl=0" TargetMode="External"/><Relationship Id="rId2" Type="http://schemas.openxmlformats.org/officeDocument/2006/relationships/hyperlink" Target="https://www.dropbox.com/scl/fi/rxe7rwmoq0acvjhp8sgc2/DS24_portfolioTasks.pdf?rlkey=w9344wu5nej4pyfn11npre5j2&amp;st=3bhtqxws&amp;dl=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cl/fi/0z74by2id731mcwssykon/portfolioTasks2024.pdf?rlkey=02z0jw8jxr9rh94qlgi4ywwd3&amp;st=wz8tgdd5&amp;dl=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0z74by2id731mcwssykon/portfolioTasks2024.pdf?rlkey=02z0jw8jxr9rh94qlgi4ywwd3&amp;st=wz8tgdd5&amp;dl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google.com/spreadsheets/d/1edO0LP6AlEhgmKYLwMeODvOEGpmbWRbpECI9G_cJoag/edit?usp=sha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jhellingsdata/RADataHub/blob/main/misc/WorldBank%20API%20Example/WB_API_Example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lying, outdoor object, web&#10;&#10;Description automatically generated">
            <a:extLst>
              <a:ext uri="{FF2B5EF4-FFF2-40B4-BE49-F238E27FC236}">
                <a16:creationId xmlns:a16="http://schemas.microsoft.com/office/drawing/2014/main" id="{7EC5CB00-17DC-42A2-AA50-C9508EB237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9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83FA-EEB7-47D9-935D-7234D206A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4069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Automated Data Visualisation for Policymaking</a:t>
            </a:r>
            <a:r>
              <a:rPr lang="en-GB" sz="7200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.</a:t>
            </a:r>
            <a:endParaRPr lang="en-GB" i="1" dirty="0">
              <a:solidFill>
                <a:srgbClr val="36B7B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3410B-C215-43B3-9035-4962C3113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1461"/>
            <a:ext cx="8033982" cy="993469"/>
          </a:xfrm>
        </p:spPr>
        <p:txBody>
          <a:bodyPr>
            <a:normAutofit fontScale="85000" lnSpcReduction="20000"/>
          </a:bodyPr>
          <a:lstStyle/>
          <a:p>
            <a:pPr algn="l"/>
            <a:endParaRPr lang="en-GB" dirty="0">
              <a:solidFill>
                <a:srgbClr val="36B7B4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algn="l"/>
            <a:r>
              <a:rPr lang="en-GB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Session 5</a:t>
            </a:r>
          </a:p>
          <a:p>
            <a:pPr algn="l"/>
            <a:r>
              <a:rPr lang="en-GB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Seminar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D2A013-A6CA-4DED-8683-7E7C43DF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1" y="22609"/>
            <a:ext cx="4303059" cy="683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1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2FE8-D24E-41DE-AA78-81A6ECA3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27" y="340080"/>
            <a:ext cx="10515600" cy="1325563"/>
          </a:xfrm>
          <a:solidFill>
            <a:srgbClr val="122B39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Week 5</a:t>
            </a:r>
            <a:r>
              <a:rPr lang="en-GB" dirty="0">
                <a:solidFill>
                  <a:srgbClr val="F4C245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. </a:t>
            </a:r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Reminders</a:t>
            </a:r>
            <a:endParaRPr lang="en-GB" dirty="0">
              <a:solidFill>
                <a:srgbClr val="F4C245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5234-01FB-4BC1-8F08-B28C710C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53" y="1509884"/>
            <a:ext cx="1144594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Reminder: Office hours</a:t>
            </a:r>
            <a:r>
              <a:rPr lang="en-GB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.</a:t>
            </a:r>
          </a:p>
          <a:p>
            <a:pPr marL="895350" indent="-2667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EBE5E5"/>
                </a:solidFill>
                <a:effectLst/>
                <a:latin typeface="Circular Std Book Italic"/>
                <a:cs typeface="Circular Std Book Italic" panose="020B0604020101020102" pitchFamily="34" charset="0"/>
              </a:rPr>
              <a:t>RD: 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Thurs</a:t>
            </a:r>
            <a:r>
              <a:rPr lang="en-GB" b="0" i="0" dirty="0">
                <a:solidFill>
                  <a:srgbClr val="EBE5E5"/>
                </a:solidFill>
                <a:effectLst/>
                <a:latin typeface="Circular Std Book Italic"/>
                <a:cs typeface="Circular Std Book Italic" panose="020B0604020101020102" pitchFamily="34" charset="0"/>
              </a:rPr>
              <a:t>, 11:00-12:00 (SPP office)</a:t>
            </a:r>
          </a:p>
          <a:p>
            <a:pPr marL="895350" indent="-2667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FM</a:t>
            </a:r>
            <a:r>
              <a:rPr lang="en-GB" b="0" i="0" dirty="0">
                <a:solidFill>
                  <a:srgbClr val="EBE5E5"/>
                </a:solidFill>
                <a:effectLst/>
                <a:latin typeface="Circular Std Book Italic"/>
                <a:cs typeface="Circular Std Book Italic" panose="020B0604020101020102" pitchFamily="34" charset="0"/>
              </a:rPr>
              <a:t>: 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Friday, 14:30-15:30 (CBG 5.01 or </a:t>
            </a:r>
            <a:r>
              <a:rPr lang="en-GB" dirty="0" err="1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lse.zoom.us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/j/7930269151)</a:t>
            </a:r>
          </a:p>
          <a:p>
            <a:pPr marL="895350" indent="-2667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JH: Mon, 14:00-15:00 (CBG 5.01)</a:t>
            </a:r>
            <a:endParaRPr lang="en-GB" b="0" i="0" dirty="0">
              <a:solidFill>
                <a:srgbClr val="EBE5E5"/>
              </a:solidFill>
              <a:effectLst/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Reminder: Portfolio tasks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These are set each week and make up 20% of your grade. They can be found in the course </a:t>
            </a:r>
            <a:r>
              <a:rPr lang="en-GB" dirty="0" err="1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DropBox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. The file is </a:t>
            </a: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  <a:hlinkClick r:id="rId2"/>
              </a:rPr>
              <a:t>here</a:t>
            </a:r>
            <a:endParaRPr lang="en-GB" dirty="0">
              <a:solidFill>
                <a:schemeClr val="bg1"/>
              </a:solidFill>
              <a:latin typeface="Circular Std Book Italic"/>
              <a:cs typeface="Circular Std Book Italic" panose="020B0604020101020102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50354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2FE8-D24E-41DE-AA78-81A6ECA3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27" y="340080"/>
            <a:ext cx="10515600" cy="1325563"/>
          </a:xfrm>
          <a:solidFill>
            <a:srgbClr val="122B39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Office hours</a:t>
            </a:r>
            <a:endParaRPr lang="en-GB" dirty="0">
              <a:solidFill>
                <a:srgbClr val="F4C245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087086-7274-BC0B-9386-07A2FF5D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53" y="1509884"/>
            <a:ext cx="411815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28650" indent="0">
              <a:buNone/>
            </a:pPr>
            <a:endParaRPr lang="en-GB" b="0" i="0" dirty="0">
              <a:solidFill>
                <a:srgbClr val="EBE5E5"/>
              </a:solidFill>
              <a:effectLst/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Finn McEvoy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dirty="0" err="1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f.l.mcevoy@lse.ac.uk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CBG 5.01 or </a:t>
            </a:r>
            <a:r>
              <a:rPr lang="en-GB" sz="2400" dirty="0" err="1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lse.zoom.us</a:t>
            </a: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/j/7930269151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Office hour: Friday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14:30-15:30</a:t>
            </a:r>
            <a:endParaRPr lang="en-GB" sz="2400" dirty="0">
              <a:solidFill>
                <a:schemeClr val="bg1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GB" dirty="0">
              <a:solidFill>
                <a:schemeClr val="bg1"/>
              </a:solidFill>
              <a:latin typeface="Circular Std Book Italic"/>
              <a:cs typeface="Circular Std Book Italic" panose="020B0604020101020102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7EF64-C86A-7355-491B-1D0FC87458BA}"/>
              </a:ext>
            </a:extLst>
          </p:cNvPr>
          <p:cNvSpPr txBox="1">
            <a:spLocks/>
          </p:cNvSpPr>
          <p:nvPr/>
        </p:nvSpPr>
        <p:spPr>
          <a:xfrm>
            <a:off x="5494017" y="1509884"/>
            <a:ext cx="617722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0">
              <a:buFont typeface="Arial" panose="020B0604020202020204" pitchFamily="34" charset="0"/>
              <a:buNone/>
            </a:pPr>
            <a:endParaRPr lang="en-GB" dirty="0">
              <a:solidFill>
                <a:srgbClr val="EBE5E5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Josh </a:t>
            </a:r>
            <a:r>
              <a:rPr lang="en-GB" b="1" dirty="0" err="1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Hellings</a:t>
            </a:r>
            <a:endParaRPr lang="en-GB" b="1" dirty="0">
              <a:solidFill>
                <a:srgbClr val="36B7B4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dirty="0" err="1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j.i.hellings@lse.ac.uk</a:t>
            </a:r>
            <a:endParaRPr lang="en-GB" dirty="0">
              <a:solidFill>
                <a:srgbClr val="EBE5E5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CBG 5.01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Office hour: Monday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14:00-15:00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bg1"/>
              </a:solidFill>
              <a:latin typeface="Circular Std Book Italic"/>
              <a:cs typeface="Circular Std Book Italic" panose="020B0604020101020102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57324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3EDCB-D752-89EB-74AC-7CB8C24C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74EE-E29C-242F-1EEE-DEB0D6C2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27" y="340080"/>
            <a:ext cx="10515600" cy="1325563"/>
          </a:xfrm>
          <a:solidFill>
            <a:srgbClr val="122B39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Office hours</a:t>
            </a:r>
            <a:endParaRPr lang="en-GB" dirty="0">
              <a:solidFill>
                <a:srgbClr val="F4C245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8F8D11-A4C0-821D-DAD8-66F70232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53" y="1509884"/>
            <a:ext cx="411815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28650" indent="0">
              <a:buNone/>
            </a:pPr>
            <a:endParaRPr lang="en-GB" b="0" i="0" dirty="0">
              <a:solidFill>
                <a:srgbClr val="EBE5E5"/>
              </a:solidFill>
              <a:effectLst/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/>
                <a:cs typeface="Circular Std Book Italic" panose="020B0604020101020102" pitchFamily="34" charset="0"/>
              </a:rPr>
              <a:t>Finn McEvoy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dirty="0" err="1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f.l.mcevoy@lse.ac.uk</a:t>
            </a:r>
            <a:r>
              <a:rPr lang="en-GB" dirty="0">
                <a:solidFill>
                  <a:srgbClr val="EBE5E5"/>
                </a:solidFill>
                <a:latin typeface="Circular Std Book Italic"/>
                <a:cs typeface="Circular Std Book Italic" panose="020B0604020101020102" pitchFamily="34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CBG 5.01 or </a:t>
            </a:r>
            <a:r>
              <a:rPr lang="en-GB" sz="2400" dirty="0" err="1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lse.zoom.us</a:t>
            </a: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/j/7930269151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Office hour: Friday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  <a:latin typeface="Circular Std Book Italic"/>
                <a:cs typeface="Circular Std Book Italic" panose="020B0604020101020102" pitchFamily="34" charset="0"/>
              </a:rPr>
              <a:t>14:30-15:30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GB" dirty="0">
              <a:solidFill>
                <a:schemeClr val="bg1"/>
              </a:solidFill>
              <a:latin typeface="Circular Std Book Italic"/>
              <a:cs typeface="Circular Std Book Italic" panose="020B0604020101020102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4A0F-AFA4-C3D7-7B72-F15FCE62B698}"/>
              </a:ext>
            </a:extLst>
          </p:cNvPr>
          <p:cNvSpPr txBox="1">
            <a:spLocks/>
          </p:cNvSpPr>
          <p:nvPr/>
        </p:nvSpPr>
        <p:spPr>
          <a:xfrm>
            <a:off x="5494017" y="1509884"/>
            <a:ext cx="617722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EBE5E5"/>
              </a:solidFill>
              <a:effectLst/>
              <a:uLnTx/>
              <a:uFillTx/>
              <a:latin typeface="Circular Std Book Italic"/>
              <a:ea typeface="+mn-ea"/>
              <a:cs typeface="Circular Std Book Italic" panose="020B0604020101020102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36B7B4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Josh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6B7B4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Hellings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36B7B4"/>
              </a:solidFill>
              <a:effectLst/>
              <a:uLnTx/>
              <a:uFillTx/>
              <a:latin typeface="Circular Std Book Italic"/>
              <a:ea typeface="+mn-ea"/>
              <a:cs typeface="Circular Std Book Italic" panose="020B0604020101020102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E5E5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j.i.hellings@lse.ac.uk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EBE5E5"/>
              </a:solidFill>
              <a:effectLst/>
              <a:uLnTx/>
              <a:uFillTx/>
              <a:latin typeface="Circular Std Book Italic"/>
              <a:ea typeface="+mn-ea"/>
              <a:cs typeface="Circular Std Book Italic" panose="020B0604020101020102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EBE5E5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CBG 5.01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Office hour: Monday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Book Italic"/>
                <a:ea typeface="+mn-ea"/>
                <a:cs typeface="Circular Std Book Italic" panose="020B0604020101020102" pitchFamily="34" charset="0"/>
              </a:rPr>
              <a:t>14:00-15:00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Book Italic"/>
              <a:ea typeface="+mn-ea"/>
              <a:cs typeface="Circular Std Book Italic" panose="020B0604020101020102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206EFA-6E78-2A74-CABB-7FC4B9F738AF}"/>
              </a:ext>
            </a:extLst>
          </p:cNvPr>
          <p:cNvSpPr txBox="1">
            <a:spLocks/>
          </p:cNvSpPr>
          <p:nvPr/>
        </p:nvSpPr>
        <p:spPr>
          <a:xfrm>
            <a:off x="4508882" y="4682810"/>
            <a:ext cx="5727647" cy="15992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0">
              <a:buFont typeface="Arial" panose="020B0604020202020204" pitchFamily="34" charset="0"/>
              <a:buNone/>
            </a:pPr>
            <a:endParaRPr lang="en-GB" dirty="0">
              <a:solidFill>
                <a:srgbClr val="F4C245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F4C245"/>
                </a:solidFill>
                <a:latin typeface="Circular Std Book Italic"/>
                <a:cs typeface="Circular Std Book Italic" panose="020B0604020101020102" pitchFamily="34" charset="0"/>
              </a:rPr>
              <a:t>You do not need to book!</a:t>
            </a:r>
            <a:endParaRPr lang="en-GB" sz="2400" dirty="0">
              <a:solidFill>
                <a:srgbClr val="F4C245"/>
              </a:solidFill>
              <a:latin typeface="Circular Std Book Italic"/>
              <a:cs typeface="Circular Std Book Italic" panose="020B0604020101020102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GB" dirty="0">
              <a:solidFill>
                <a:srgbClr val="F4C245"/>
              </a:solidFill>
              <a:latin typeface="Circular Std Book Italic"/>
              <a:cs typeface="Circular Std Book Italic" panose="020B0604020101020102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5381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2FE8-D24E-41DE-AA78-81A6ECA3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27" y="340080"/>
            <a:ext cx="10515600" cy="1325563"/>
          </a:xfrm>
          <a:solidFill>
            <a:srgbClr val="122B39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Week 5</a:t>
            </a:r>
            <a:r>
              <a:rPr lang="en-GB" dirty="0">
                <a:solidFill>
                  <a:srgbClr val="F4C245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. </a:t>
            </a:r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Reminders</a:t>
            </a:r>
            <a:endParaRPr lang="en-GB" dirty="0">
              <a:solidFill>
                <a:srgbClr val="F4C245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5234-01FB-4BC1-8F08-B28C710C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53" y="1509884"/>
            <a:ext cx="1144594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Reminder: Class Google Sheet</a:t>
            </a:r>
            <a:endParaRPr lang="en-GB" dirty="0">
              <a:solidFill>
                <a:srgbClr val="36B7B4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marL="895350" indent="-266700" algn="l">
              <a:buFont typeface="Arial" panose="020B0604020202020204" pitchFamily="34" charset="0"/>
              <a:buChar char="•"/>
            </a:pPr>
            <a:r>
              <a:rPr lang="nn-NO" b="0" i="0" dirty="0">
                <a:solidFill>
                  <a:srgbClr val="EBE5E5"/>
                </a:solidFill>
                <a:effectLst/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Please add your name, student ID, GitHub account details to the class spreadsheet. This is </a:t>
            </a:r>
            <a:r>
              <a:rPr lang="nn-NO" b="0" i="0" dirty="0">
                <a:solidFill>
                  <a:srgbClr val="EBE5E5"/>
                </a:solidFill>
                <a:effectLst/>
                <a:latin typeface="Circular Std Book Italic" panose="020B0604020101020102" pitchFamily="34" charset="0"/>
                <a:cs typeface="Circular Std Book Italic" panose="020B0604020101020102" pitchFamily="34" charset="0"/>
                <a:hlinkClick r:id="rId2"/>
              </a:rPr>
              <a:t>here</a:t>
            </a:r>
            <a:endParaRPr lang="nn-NO" dirty="0">
              <a:solidFill>
                <a:srgbClr val="EBE5E5"/>
              </a:solidFill>
              <a:latin typeface="Circular Std Book Italic"/>
              <a:cs typeface="Circular Std Book Italic" panose="020B0604020101020102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C718B-BDE2-4404-590E-1F67EB322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07" y="3528866"/>
            <a:ext cx="6065306" cy="272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1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5234-01FB-4BC1-8F08-B28C710C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27" y="1688634"/>
            <a:ext cx="11445948" cy="43299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sz="2000" b="1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World Bank API</a:t>
            </a:r>
          </a:p>
          <a:p>
            <a:pPr lvl="1">
              <a:lnSpc>
                <a:spcPct val="100000"/>
              </a:lnSpc>
            </a:pPr>
            <a:r>
              <a:rPr lang="en-GB" sz="1400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Fetching, cleaning, merging data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GB" sz="1400" dirty="0">
              <a:solidFill>
                <a:schemeClr val="bg1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GB" sz="2000" b="1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Advanced charting</a:t>
            </a:r>
          </a:p>
          <a:p>
            <a:pPr lvl="1">
              <a:lnSpc>
                <a:spcPct val="100000"/>
              </a:lnSpc>
            </a:pPr>
            <a:r>
              <a:rPr lang="en-GB" sz="1400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Plotting out new dataset</a:t>
            </a:r>
          </a:p>
          <a:p>
            <a:pPr lvl="1">
              <a:lnSpc>
                <a:spcPct val="100000"/>
              </a:lnSpc>
            </a:pPr>
            <a:r>
              <a:rPr lang="en-GB" sz="1400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Transforms, filtering, formatting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GB" sz="1400" dirty="0">
              <a:solidFill>
                <a:prstClr val="white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GB" sz="2000" b="1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Chart clinic</a:t>
            </a:r>
          </a:p>
          <a:p>
            <a:pPr lvl="1">
              <a:lnSpc>
                <a:spcPct val="100000"/>
              </a:lnSpc>
            </a:pPr>
            <a:r>
              <a:rPr lang="en-GB" sz="1400" dirty="0">
                <a:solidFill>
                  <a:prstClr val="white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Fixing any charts you’re working on</a:t>
            </a:r>
          </a:p>
          <a:p>
            <a:pPr lvl="1">
              <a:lnSpc>
                <a:spcPct val="100000"/>
              </a:lnSpc>
            </a:pPr>
            <a:r>
              <a:rPr lang="en-GB" sz="1400" dirty="0">
                <a:solidFill>
                  <a:prstClr val="white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A look at the portfolio tasks</a:t>
            </a:r>
            <a:endParaRPr lang="en-GB" sz="1600" dirty="0">
              <a:solidFill>
                <a:schemeClr val="bg1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GB" sz="1600" dirty="0">
              <a:solidFill>
                <a:schemeClr val="bg1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lvl="1">
              <a:lnSpc>
                <a:spcPct val="100000"/>
              </a:lnSpc>
            </a:pPr>
            <a:endParaRPr lang="en-GB" sz="1600" dirty="0">
              <a:solidFill>
                <a:schemeClr val="bg1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  <a:p>
            <a:pPr lvl="1">
              <a:lnSpc>
                <a:spcPct val="150000"/>
              </a:lnSpc>
            </a:pPr>
            <a:endParaRPr lang="en-GB" sz="1600" dirty="0">
              <a:solidFill>
                <a:schemeClr val="bg1"/>
              </a:solidFill>
              <a:latin typeface="Circular Std Book Italic" panose="020B0604020101020102" pitchFamily="34" charset="0"/>
              <a:cs typeface="Circular Std Book Italic" panose="020B0604020101020102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C1E4FF-C314-C18B-6BA4-C09A4B2D0419}"/>
              </a:ext>
            </a:extLst>
          </p:cNvPr>
          <p:cNvSpPr txBox="1">
            <a:spLocks/>
          </p:cNvSpPr>
          <p:nvPr/>
        </p:nvSpPr>
        <p:spPr>
          <a:xfrm>
            <a:off x="584127" y="340080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Today</a:t>
            </a:r>
            <a:r>
              <a:rPr lang="en-GB" dirty="0">
                <a:solidFill>
                  <a:srgbClr val="F4C245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339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2FE8-D24E-41DE-AA78-81A6ECA3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104"/>
            <a:ext cx="10515600" cy="1121896"/>
          </a:xfrm>
          <a:solidFill>
            <a:srgbClr val="122B39"/>
          </a:solidFill>
        </p:spPr>
        <p:txBody>
          <a:bodyPr>
            <a:norm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World Bank API</a:t>
            </a:r>
            <a:r>
              <a:rPr lang="en-GB" dirty="0">
                <a:solidFill>
                  <a:srgbClr val="36B7B4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.</a:t>
            </a:r>
            <a:r>
              <a:rPr lang="en-GB" dirty="0">
                <a:solidFill>
                  <a:srgbClr val="F4C245"/>
                </a:solidFill>
                <a:latin typeface="Circular Std Book Italic" panose="020B0604020101020102" pitchFamily="34" charset="0"/>
                <a:cs typeface="Circular Std Book Italic" panose="020B0604020101020102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98DFE-6D86-FF8A-3A9D-02841E9DD74E}"/>
              </a:ext>
            </a:extLst>
          </p:cNvPr>
          <p:cNvSpPr txBox="1"/>
          <p:nvPr/>
        </p:nvSpPr>
        <p:spPr>
          <a:xfrm>
            <a:off x="838200" y="3167390"/>
            <a:ext cx="6099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36B7B4"/>
                </a:solidFill>
                <a:latin typeface="Circular Std Book Italic" panose="020B0604020101020102" pitchFamily="34" charset="77"/>
                <a:cs typeface="Circular Std Book Italic" panose="020B0604020101020102" pitchFamily="34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 link</a:t>
            </a:r>
            <a:endParaRPr lang="en-GB" sz="2800" dirty="0">
              <a:solidFill>
                <a:srgbClr val="36B7B4"/>
              </a:solidFill>
              <a:latin typeface="Circular Std Book Italic" panose="020B0604020101020102" pitchFamily="34" charset="77"/>
              <a:cs typeface="Circular Std Book Italic" panose="020B0604020101020102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4090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268</Words>
  <Application>Microsoft Macintosh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Circular Std Book Italic</vt:lpstr>
      <vt:lpstr>Times New Roman</vt:lpstr>
      <vt:lpstr>Office Theme</vt:lpstr>
      <vt:lpstr>PowerPoint Presentation</vt:lpstr>
      <vt:lpstr>Automated Data Visualisation for Policymaking.</vt:lpstr>
      <vt:lpstr>Week 5. Reminders</vt:lpstr>
      <vt:lpstr>Office hours</vt:lpstr>
      <vt:lpstr>Office hours</vt:lpstr>
      <vt:lpstr>Week 5. Reminders</vt:lpstr>
      <vt:lpstr>PowerPoint Presentation</vt:lpstr>
      <vt:lpstr>World Bank API.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Communicating Economics.</dc:title>
  <dc:creator>Richard Davies</dc:creator>
  <cp:lastModifiedBy>Hellings,JI</cp:lastModifiedBy>
  <cp:revision>111</cp:revision>
  <dcterms:created xsi:type="dcterms:W3CDTF">2021-07-20T09:12:48Z</dcterms:created>
  <dcterms:modified xsi:type="dcterms:W3CDTF">2024-11-01T16:31:37Z</dcterms:modified>
</cp:coreProperties>
</file>